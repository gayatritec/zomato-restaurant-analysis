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77" r:id="rId5"/>
    <p:sldId id="261" r:id="rId6"/>
    <p:sldId id="263" r:id="rId7"/>
    <p:sldId id="264" r:id="rId8"/>
    <p:sldId id="265" r:id="rId9"/>
    <p:sldId id="269" r:id="rId10"/>
    <p:sldId id="267" r:id="rId11"/>
    <p:sldId id="268" r:id="rId12"/>
    <p:sldId id="275" r:id="rId13"/>
    <p:sldId id="266" r:id="rId14"/>
    <p:sldId id="270" r:id="rId15"/>
    <p:sldId id="276" r:id="rId16"/>
    <p:sldId id="271" r:id="rId17"/>
    <p:sldId id="274" r:id="rId18"/>
    <p:sldId id="272" r:id="rId19"/>
    <p:sldId id="273" r:id="rId20"/>
    <p:sldId id="26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5DDA3-CBC0-4CDD-829F-945FDEF72CDD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2F04D-C4DA-4703-B251-E98966CE8E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8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52F04D-C4DA-4703-B251-E98966CE8E2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19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FD8103-4CD1-52B4-1C2F-CA9620CD0F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7209B5-08B2-C47E-3BF4-1AD7D7E30007}"/>
              </a:ext>
            </a:extLst>
          </p:cNvPr>
          <p:cNvSpPr/>
          <p:nvPr/>
        </p:nvSpPr>
        <p:spPr>
          <a:xfrm>
            <a:off x="2" y="1683329"/>
            <a:ext cx="12191998" cy="44473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5400" i="1" dirty="0">
                <a:latin typeface="Arial" panose="020B0604020202020204" pitchFamily="34" charset="0"/>
                <a:cs typeface="Arial" panose="020B0604020202020204" pitchFamily="34" charset="0"/>
              </a:rPr>
              <a:t>Zomato Restaurants Analysis</a:t>
            </a:r>
          </a:p>
          <a:p>
            <a:br>
              <a:rPr lang="en-US" sz="4400" b="1" dirty="0"/>
            </a:b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Data-Driven Restaurant Expansion Strategy</a:t>
            </a:r>
            <a:endParaRPr lang="en-IN" sz="40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0EC671-2B35-2550-DB1A-DAE9FCD7C29A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733807" y="145471"/>
            <a:ext cx="1375064" cy="12884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96A407-3BF4-C133-E686-BF51A5B2947D}"/>
              </a:ext>
            </a:extLst>
          </p:cNvPr>
          <p:cNvSpPr txBox="1"/>
          <p:nvPr/>
        </p:nvSpPr>
        <p:spPr>
          <a:xfrm>
            <a:off x="883228" y="4922921"/>
            <a:ext cx="2639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Gayatri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Kumari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aphic 17" descr="Female Profile with solid fill">
            <a:extLst>
              <a:ext uri="{FF2B5EF4-FFF2-40B4-BE49-F238E27FC236}">
                <a16:creationId xmlns:a16="http://schemas.microsoft.com/office/drawing/2014/main" id="{E20FC7B5-7686-1FC7-9346-6D434F97D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210" y="4790467"/>
            <a:ext cx="665018" cy="66501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DFDA63-BB36-9F9D-8E94-31480068AE33}"/>
              </a:ext>
            </a:extLst>
          </p:cNvPr>
          <p:cNvCxnSpPr>
            <a:cxnSpLocks/>
          </p:cNvCxnSpPr>
          <p:nvPr/>
        </p:nvCxnSpPr>
        <p:spPr>
          <a:xfrm>
            <a:off x="103910" y="3761510"/>
            <a:ext cx="518506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16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BAA9AD-591D-A457-D460-ABA7F218E0AC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pic>
        <p:nvPicPr>
          <p:cNvPr id="4" name="Picture 3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EEC7C13F-6C7E-E211-0186-149645683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406" y="2028629"/>
            <a:ext cx="4658375" cy="28007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29D5F7-349E-BA82-3B94-BDC7D052A01C}"/>
              </a:ext>
            </a:extLst>
          </p:cNvPr>
          <p:cNvSpPr/>
          <p:nvPr/>
        </p:nvSpPr>
        <p:spPr>
          <a:xfrm>
            <a:off x="-2" y="388654"/>
            <a:ext cx="10149841" cy="8823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4000" b="1" i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DDA86-16CA-C699-2AD2-61FFE3DDE3E4}"/>
              </a:ext>
            </a:extLst>
          </p:cNvPr>
          <p:cNvSpPr txBox="1"/>
          <p:nvPr/>
        </p:nvSpPr>
        <p:spPr>
          <a:xfrm>
            <a:off x="779319" y="2161310"/>
            <a:ext cx="647353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global restaurant industry is dynamic and competitive, with customer expectations constantly shifting.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a key player, Zomato aims to use data insights to make informed decisions about market expansion and service improvements.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project analyzes real-world restaurant data to uncover valuable trends and support strategic planning to open newer restaurants across the globe.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9207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6050-10D8-683A-650F-7CF38A04D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0D7C9D-41F7-F573-9929-AC2612EEEA58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556546-5659-D79B-68AB-435AF771AA72}"/>
              </a:ext>
            </a:extLst>
          </p:cNvPr>
          <p:cNvSpPr/>
          <p:nvPr/>
        </p:nvSpPr>
        <p:spPr>
          <a:xfrm>
            <a:off x="-1" y="388654"/>
            <a:ext cx="10073641" cy="8823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sz="4000" b="1" i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77417-EB1F-53C9-DA6A-C36D8EEC6E9C}"/>
              </a:ext>
            </a:extLst>
          </p:cNvPr>
          <p:cNvSpPr txBox="1"/>
          <p:nvPr/>
        </p:nvSpPr>
        <p:spPr>
          <a:xfrm>
            <a:off x="779319" y="2161310"/>
            <a:ext cx="647353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Identify countries and cities where there is less competition and a greater chance of new restaurant openings.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Analyze market trends like pricing, customer rating, online delivery, and table booking preferences.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Examine the impact of price and cuisine varieties on customer ratings.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Deliver data-based suggestions to open newer restaurants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restaurant with people sitting at tables&#10;&#10;AI-generated content may be incorrect.">
            <a:extLst>
              <a:ext uri="{FF2B5EF4-FFF2-40B4-BE49-F238E27FC236}">
                <a16:creationId xmlns:a16="http://schemas.microsoft.com/office/drawing/2014/main" id="{E8644601-6DA4-3BDB-9D51-22D25D485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74" y="2250306"/>
            <a:ext cx="3761969" cy="30275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5129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6979-AF26-7B7B-3A75-70CFC868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49555A-1BDF-F88D-55E9-84F6EFE6C154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F83A2C-C9A8-FBD1-BD31-6AC7D037383E}"/>
              </a:ext>
            </a:extLst>
          </p:cNvPr>
          <p:cNvSpPr/>
          <p:nvPr/>
        </p:nvSpPr>
        <p:spPr>
          <a:xfrm>
            <a:off x="-1" y="388654"/>
            <a:ext cx="10073641" cy="8823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sz="4000" b="1" i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64918-5365-D1E6-8B07-3F0BF44D779C}"/>
              </a:ext>
            </a:extLst>
          </p:cNvPr>
          <p:cNvSpPr txBox="1"/>
          <p:nvPr/>
        </p:nvSpPr>
        <p:spPr>
          <a:xfrm>
            <a:off x="1124258" y="2250306"/>
            <a:ext cx="64735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Zomato operates in a highly competitive global restaurant market.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Customer preferences and satisfaction vary across regions.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Identifying a low-competition, high-growth market is challenging.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Factors like pricing, cuisine, delivery, and booking impact performance.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Data-driven insights are essential for effective expansion decisions.</a:t>
            </a:r>
          </a:p>
        </p:txBody>
      </p:sp>
      <p:pic>
        <p:nvPicPr>
          <p:cNvPr id="9" name="Picture 8" descr="A restaurant with people sitting at tables&#10;&#10;AI-generated content may be incorrect.">
            <a:extLst>
              <a:ext uri="{FF2B5EF4-FFF2-40B4-BE49-F238E27FC236}">
                <a16:creationId xmlns:a16="http://schemas.microsoft.com/office/drawing/2014/main" id="{5C71349D-E74B-FABF-1539-7E35DB3DE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74" y="2250306"/>
            <a:ext cx="3761969" cy="30275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575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C4DA-EFA8-CA58-08A1-3D218F89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6EC529-0023-ADDC-CA92-ED273C71F992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D046CB3-4AB0-4A03-9106-C0D9DB32D43E}"/>
              </a:ext>
            </a:extLst>
          </p:cNvPr>
          <p:cNvSpPr/>
          <p:nvPr/>
        </p:nvSpPr>
        <p:spPr>
          <a:xfrm>
            <a:off x="-1" y="388653"/>
            <a:ext cx="10988843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Zomato</a:t>
            </a:r>
            <a:r>
              <a:rPr lang="en-IN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Restaurants Data(Data Overview)</a:t>
            </a:r>
            <a:endParaRPr lang="en-US" sz="4000" b="1" i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A6F0A-BC02-EE6A-C1A9-E0EC98B6A615}"/>
              </a:ext>
            </a:extLst>
          </p:cNvPr>
          <p:cNvSpPr txBox="1"/>
          <p:nvPr/>
        </p:nvSpPr>
        <p:spPr>
          <a:xfrm>
            <a:off x="883122" y="1868104"/>
            <a:ext cx="995358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Countries Covered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15 countries across the globe.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Cities Included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141 cities spanning these countries.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Number of Restaurants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9,551 restaurants listed across 15 global countries and 141 cities. 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Variety of cuisines offered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1826 different cuisines reflecting global food diversity.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Opening Date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Shows when the restaurant started operations.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Online Delivery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Indicates whether online food delivery is available.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Booking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Shows if table reservations can be made.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Average Cost for Two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Approximate cost for two people dining together.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Customer Ratings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Reflects customer feedback on a scale(1-5).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Price Range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Categorizes restaurants into affordability level(1-4).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 descr="A person opening a store&#10;&#10;AI-generated content may be incorrect.">
            <a:extLst>
              <a:ext uri="{FF2B5EF4-FFF2-40B4-BE49-F238E27FC236}">
                <a16:creationId xmlns:a16="http://schemas.microsoft.com/office/drawing/2014/main" id="{0BB3E6EA-CBFF-46E1-1BF6-BE2C3437B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143" y="3627968"/>
            <a:ext cx="4526857" cy="3230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9704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7C44-A2C1-C2E2-0E43-3075310E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1EE592-E208-062F-36DD-DFC3B2474DD1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392AF2-8D4C-7976-94CD-9CA06FDA54A8}"/>
              </a:ext>
            </a:extLst>
          </p:cNvPr>
          <p:cNvSpPr/>
          <p:nvPr/>
        </p:nvSpPr>
        <p:spPr>
          <a:xfrm>
            <a:off x="-2" y="388653"/>
            <a:ext cx="9631682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Cleaning Steps</a:t>
            </a:r>
          </a:p>
        </p:txBody>
      </p:sp>
      <p:pic>
        <p:nvPicPr>
          <p:cNvPr id="6" name="Picture 5" descr="A cartoon of people sitting at a restaurant&#10;&#10;AI-generated content may be incorrect.">
            <a:extLst>
              <a:ext uri="{FF2B5EF4-FFF2-40B4-BE49-F238E27FC236}">
                <a16:creationId xmlns:a16="http://schemas.microsoft.com/office/drawing/2014/main" id="{BB589BE3-DC4F-E1F8-CBFE-2DE7EF365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167" y="2222126"/>
            <a:ext cx="4096322" cy="32865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D064375-50FD-EEED-D1C8-14B9C619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58" y="2222125"/>
            <a:ext cx="777932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Filled missing values in the Cuisine column (USA) with “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American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” based on highest frequency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Corrected all incorrect entries in the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City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column.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Replaced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values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Average_Cost_for_Two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with the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country-wise average cost.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Corrected currency values and updated them with proper currency symbols.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Converted 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Datekey_Opening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 filed into a standard date format(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DD-MM-YYYY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Extracted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Year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from the converted date column for the further analysis.</a:t>
            </a: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Created two additional columns “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Average_Cost_For_two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(INR)”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and “</a:t>
            </a:r>
            <a:r>
              <a:rPr lang="en-US" alt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CompetitionLevel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deeper insights.</a:t>
            </a: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32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CC964-9951-BEFF-8707-9DFEA944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15150E-68D9-4C15-FF2B-7984C81FEDD3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80FC0F-E94A-B421-DE00-DCFB4C685766}"/>
              </a:ext>
            </a:extLst>
          </p:cNvPr>
          <p:cNvSpPr/>
          <p:nvPr/>
        </p:nvSpPr>
        <p:spPr>
          <a:xfrm>
            <a:off x="-2" y="388653"/>
            <a:ext cx="9982201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98475-A12C-D277-2FCB-E0C727E0BAC0}"/>
              </a:ext>
            </a:extLst>
          </p:cNvPr>
          <p:cNvSpPr txBox="1"/>
          <p:nvPr/>
        </p:nvSpPr>
        <p:spPr>
          <a:xfrm>
            <a:off x="965860" y="2046774"/>
            <a:ext cx="742797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Cleaned the dataset by removing duplicates, fixing missing values, and standardizing inconsistent entries.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 Enhancement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Applied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XLOOKUP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map the country name using country codes, and extracted new fields like the Year of Opening from the date column.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Data Formatting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Reformatted the ‘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Datekey_Opening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’ using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functions. Derived year using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function for yearly trend analysis.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Trend Analysis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study restaurant growth over time.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Descriptive Statistics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rating, votes, and average costs.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Correlation Analysis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evaluate the impact of price, rating, and delivery.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group of people standing in front of a computer&#10;&#10;AI-generated content may be incorrect.">
            <a:extLst>
              <a:ext uri="{FF2B5EF4-FFF2-40B4-BE49-F238E27FC236}">
                <a16:creationId xmlns:a16="http://schemas.microsoft.com/office/drawing/2014/main" id="{14A399F3-7CAC-65B0-D5AE-187822F08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351" y="2518550"/>
            <a:ext cx="3932039" cy="25823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4723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87F7-C25D-9539-B8FF-B804485D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90694C-A999-2A52-4887-335DD3DECAEF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0B0D70-E354-3E3F-03A2-9B1A46D631E1}"/>
              </a:ext>
            </a:extLst>
          </p:cNvPr>
          <p:cNvSpPr/>
          <p:nvPr/>
        </p:nvSpPr>
        <p:spPr>
          <a:xfrm>
            <a:off x="0" y="388653"/>
            <a:ext cx="10088880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D6711-939C-09D7-F05E-8F77A81767B4}"/>
              </a:ext>
            </a:extLst>
          </p:cNvPr>
          <p:cNvSpPr txBox="1"/>
          <p:nvPr/>
        </p:nvSpPr>
        <p:spPr>
          <a:xfrm>
            <a:off x="1007794" y="2090172"/>
            <a:ext cx="79511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Excel Tools &amp; Functions Used: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Pivot Tables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summaries by country and city.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Conditional Formatting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 highlight high/low performers.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Logical Functions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like IF, AND, and OR to filter insights.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Array Formulas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for counting based on multiple conditions.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: Created charts such as bar graphs, pie charts, Scatter plots, and trend lines to clearly present insights and support recommendations.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group of people looking at a globe&#10;&#10;AI-generated content may be incorrect.">
            <a:extLst>
              <a:ext uri="{FF2B5EF4-FFF2-40B4-BE49-F238E27FC236}">
                <a16:creationId xmlns:a16="http://schemas.microsoft.com/office/drawing/2014/main" id="{8ECD3847-37E3-3A90-B046-68C6D8072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303" y="1851151"/>
            <a:ext cx="3016579" cy="27831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urger and fries with a drink&#10;&#10;AI-generated content may be incorrect.">
            <a:extLst>
              <a:ext uri="{FF2B5EF4-FFF2-40B4-BE49-F238E27FC236}">
                <a16:creationId xmlns:a16="http://schemas.microsoft.com/office/drawing/2014/main" id="{1C26128A-C790-CDD5-A33F-5455A6C4B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845" y="3173400"/>
            <a:ext cx="1058865" cy="10505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7535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DA1D-1E46-2A30-E5CF-1641C622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D91B60-99D4-9A21-029E-F8B81BFC496B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0DDF58-8733-8674-A8CE-BF3E6EB46C0C}"/>
              </a:ext>
            </a:extLst>
          </p:cNvPr>
          <p:cNvSpPr/>
          <p:nvPr/>
        </p:nvSpPr>
        <p:spPr>
          <a:xfrm>
            <a:off x="-1" y="388653"/>
            <a:ext cx="9768841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Identifying Potential Markets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C141D-7185-078B-7A3F-118FFA7B213F}"/>
              </a:ext>
            </a:extLst>
          </p:cNvPr>
          <p:cNvSpPr txBox="1"/>
          <p:nvPr/>
        </p:nvSpPr>
        <p:spPr>
          <a:xfrm>
            <a:off x="918939" y="2201543"/>
            <a:ext cx="688142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Red bars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highly competitive markets.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Light Red bars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low-competitive markets.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India(8652)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USA(434)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show high competition.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Canada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Qatar, Singapore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Sri Lanka, Indonesia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Philippines,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Australia,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Turkey,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New Zealand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have very low competition. So, they are the potential markets.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Low-competitive markets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offer first-mover advantages, lower marketing costs, easier customer acquisition, and faster growth and brand awareness.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en-US" dirty="0"/>
          </a:p>
          <a:p>
            <a:endParaRPr lang="en-US" dirty="0"/>
          </a:p>
          <a:p>
            <a:r>
              <a:rPr lang="en-IN" dirty="0"/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D9CBE-94AE-86D9-D7F7-53F33E5EDA24}"/>
              </a:ext>
            </a:extLst>
          </p:cNvPr>
          <p:cNvSpPr txBox="1"/>
          <p:nvPr/>
        </p:nvSpPr>
        <p:spPr>
          <a:xfrm>
            <a:off x="657682" y="1617331"/>
            <a:ext cx="483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Restaurants per Country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746D6-A212-3375-5D23-0BAFD9A4C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084" y="1832213"/>
            <a:ext cx="4163006" cy="34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1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F9EF-87DE-4D01-8710-F45C1F5D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28E377-E1A8-2F2D-85D1-7F3C1A9BB977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882D7B-8AD4-3557-936C-E87797D9A180}"/>
              </a:ext>
            </a:extLst>
          </p:cNvPr>
          <p:cNvSpPr/>
          <p:nvPr/>
        </p:nvSpPr>
        <p:spPr>
          <a:xfrm>
            <a:off x="-2" y="388653"/>
            <a:ext cx="9753601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Customer Engagement by Country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DE352-E14D-E1A1-3B65-383E9728AC49}"/>
              </a:ext>
            </a:extLst>
          </p:cNvPr>
          <p:cNvSpPr txBox="1"/>
          <p:nvPr/>
        </p:nvSpPr>
        <p:spPr>
          <a:xfrm>
            <a:off x="7445829" y="2153184"/>
            <a:ext cx="452626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Indonesia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leads with the highest average votes(772), indicating strong customer engagement.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UAE(494), Turkey(431), USA(428), and Philippines(407)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also shows high customer activity.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Brazil(20) and Singapore(32)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have very low engagement, suggesting a newer or less active market.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India,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despite having the most restaurants, shows moderate engagement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137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average votes.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Indonesia, Turkey, and the Philippines are the countries with high customer satisfaction and low competition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Making them strong markets for new restaurant expansion.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35CE40-912C-6E26-B9B1-B067025B0ED5}"/>
              </a:ext>
            </a:extLst>
          </p:cNvPr>
          <p:cNvSpPr txBox="1"/>
          <p:nvPr/>
        </p:nvSpPr>
        <p:spPr>
          <a:xfrm>
            <a:off x="7337621" y="1622464"/>
            <a:ext cx="483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Vote per Country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729C5B-8D0F-C372-7726-6E5275EF0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5464"/>
            <a:ext cx="5529943" cy="330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1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BBF3-D5D7-DC77-DC58-D8BCE08B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9DF7B9-0089-4EA7-29E5-3BFAB70B91EE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77A1B0-ADA3-BCB7-7281-586BF671BD4B}"/>
              </a:ext>
            </a:extLst>
          </p:cNvPr>
          <p:cNvSpPr/>
          <p:nvPr/>
        </p:nvSpPr>
        <p:spPr>
          <a:xfrm>
            <a:off x="0" y="364108"/>
            <a:ext cx="9448801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Trend of Restaurant Openings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C71176-AF9E-99D9-3D29-46A063792F8F}"/>
              </a:ext>
            </a:extLst>
          </p:cNvPr>
          <p:cNvSpPr txBox="1"/>
          <p:nvPr/>
        </p:nvSpPr>
        <p:spPr>
          <a:xfrm>
            <a:off x="7761041" y="2013298"/>
            <a:ext cx="40804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Restaurant openings grew steadily from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2010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to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2011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peaked 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2018(1102).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There was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dip in the trend in 2012(1022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followed by ups and downs.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strong and steady growth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the trend is seen after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2016,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indicating renewed market interest.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So,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this shows that this is the right time to open newer restaurants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growing trend shows a positive sign for us. 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33AC2-1889-349C-68AA-1A0D8C13F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3298"/>
            <a:ext cx="6511255" cy="35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4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53177-3253-0DC0-CB96-D1F69E3A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4BC95D-7330-87FA-B55F-C0ECFA422385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B5B3FA-A80A-2B9B-2A42-B401DD8E47B7}"/>
              </a:ext>
            </a:extLst>
          </p:cNvPr>
          <p:cNvSpPr/>
          <p:nvPr/>
        </p:nvSpPr>
        <p:spPr>
          <a:xfrm>
            <a:off x="-1" y="388653"/>
            <a:ext cx="9384633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Customer Satisfaction by Country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AD883-2275-25C7-274A-5572A045298D}"/>
              </a:ext>
            </a:extLst>
          </p:cNvPr>
          <p:cNvSpPr txBox="1"/>
          <p:nvPr/>
        </p:nvSpPr>
        <p:spPr>
          <a:xfrm>
            <a:off x="7641771" y="2088177"/>
            <a:ext cx="458113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Red bars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highly competitive markets.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Light Red bars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Low competitive markets.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Philippines (4.4)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Indonesia (4.3)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has high average customer ratings, indicating high customer satisfaction and quality.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India (2.8)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despite having the most restaurants, has a comparatively low rating, suggesting quality issues.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UK (4.0)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USA (3.9)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Turkey (4.1)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New Zealand (4.2)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show consistently good ratings.</a:t>
            </a:r>
          </a:p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Brazil (2.1)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Qatar (2.4)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have the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lowest average ratings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indicating poor customer experience and lack of quality.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Countries with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low ratings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 low competition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can be 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ideal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for opening newer restaurants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A8B72C-545F-C3CC-7B79-2A901CFF1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94" y="2046001"/>
            <a:ext cx="6178620" cy="3979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41B3BC-EDB2-63FC-B133-F3BF07579B8A}"/>
              </a:ext>
            </a:extLst>
          </p:cNvPr>
          <p:cNvSpPr txBox="1"/>
          <p:nvPr/>
        </p:nvSpPr>
        <p:spPr>
          <a:xfrm>
            <a:off x="7390952" y="1633821"/>
            <a:ext cx="483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Rating Per Country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76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D6D6-F9CA-EDFB-C039-3F1C1641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0B253B-5669-BEA3-A502-528717042698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923604-1BF4-969C-DD94-C03C0FF0C8B7}"/>
              </a:ext>
            </a:extLst>
          </p:cNvPr>
          <p:cNvSpPr/>
          <p:nvPr/>
        </p:nvSpPr>
        <p:spPr>
          <a:xfrm>
            <a:off x="-1" y="388653"/>
            <a:ext cx="9723122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Impact of Delivery &amp; Booking on Rating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2A20C7-E07E-B515-B37F-5AEF98D3E9C5}"/>
              </a:ext>
            </a:extLst>
          </p:cNvPr>
          <p:cNvSpPr txBox="1"/>
          <p:nvPr/>
        </p:nvSpPr>
        <p:spPr>
          <a:xfrm>
            <a:off x="8147749" y="2393102"/>
            <a:ext cx="382434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Red bars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indicate availability of the feature.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The blue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bar indicates the unavailability of the feature.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Online Delivery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availability has an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average rating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3.3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over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2451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restaurants, and unavailability has an average rating of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2.8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over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7100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restaurants.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Booking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availability has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average rating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3.5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over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1158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restaurants and unavailability has average rating of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2.8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8393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restaurants.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Providing both delivery and booking options is strongly impacts higher rating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E208F-0D70-4197-F74E-0F9ADE76E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38" y="2019936"/>
            <a:ext cx="7240010" cy="4448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47F54E-428F-1248-AD53-DF23DC0C02D8}"/>
              </a:ext>
            </a:extLst>
          </p:cNvPr>
          <p:cNvSpPr txBox="1"/>
          <p:nvPr/>
        </p:nvSpPr>
        <p:spPr>
          <a:xfrm>
            <a:off x="7838364" y="1650604"/>
            <a:ext cx="483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Rating per Feature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26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D793B-8BC8-F862-D6E4-8E2960DF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5E08E5-0C77-123C-228F-BAC98015AE7B}"/>
              </a:ext>
            </a:extLst>
          </p:cNvPr>
          <p:cNvPicPr/>
          <p:nvPr/>
        </p:nvPicPr>
        <p:blipFill>
          <a:blip r:embed="rId3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D81FD9-9305-DEA7-3517-B7D84A652813}"/>
              </a:ext>
            </a:extLst>
          </p:cNvPr>
          <p:cNvSpPr/>
          <p:nvPr/>
        </p:nvSpPr>
        <p:spPr>
          <a:xfrm>
            <a:off x="-2" y="388653"/>
            <a:ext cx="9768841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Food Expenditure by Country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2450F-0351-79B5-A469-594B0CB77085}"/>
              </a:ext>
            </a:extLst>
          </p:cNvPr>
          <p:cNvSpPr txBox="1"/>
          <p:nvPr/>
        </p:nvSpPr>
        <p:spPr>
          <a:xfrm>
            <a:off x="7607586" y="2316567"/>
            <a:ext cx="436450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Light Red bars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are highly competitive markets </a:t>
            </a:r>
          </a:p>
          <a:p>
            <a:pPr algn="just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  Red bars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are low-competitive markets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Qatar, Singapore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and the United Arab Emirates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have the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highest average food expenditure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unsuitable for high-end restaurants.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Brazil show lower average food costs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which shows budget-conscious customer behavior.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Moderate pricing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seen in countries like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USA, UK, Canada, and Australia, s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uggesting affordability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Countries with Food expenditure below the average and low competition can be ideal for opening newer restaurants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E00DC0-066A-B084-BAEF-089E1F365E3F}"/>
              </a:ext>
            </a:extLst>
          </p:cNvPr>
          <p:cNvSpPr txBox="1"/>
          <p:nvPr/>
        </p:nvSpPr>
        <p:spPr>
          <a:xfrm>
            <a:off x="394855" y="5420586"/>
            <a:ext cx="665757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“Average Food Expenditure(INR) for two among competitors: 2819”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EC6D8-0954-13BB-40CB-542DCE476BAA}"/>
              </a:ext>
            </a:extLst>
          </p:cNvPr>
          <p:cNvSpPr txBox="1"/>
          <p:nvPr/>
        </p:nvSpPr>
        <p:spPr>
          <a:xfrm>
            <a:off x="7052434" y="1748017"/>
            <a:ext cx="4831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Cost for Two(in INR)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AAB849-485B-0A01-5459-B175B25E1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60" y="2071738"/>
            <a:ext cx="5854168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9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E19D-DBDC-949E-C1E5-5F46F3EB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C2451E-FE9A-38C7-6045-A48B8FB5E81B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288A12-FD01-B5F2-AEB0-B08FBEDAF08C}"/>
              </a:ext>
            </a:extLst>
          </p:cNvPr>
          <p:cNvSpPr/>
          <p:nvPr/>
        </p:nvSpPr>
        <p:spPr>
          <a:xfrm>
            <a:off x="-1" y="388653"/>
            <a:ext cx="9784082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Restaurant Distribution by Price Range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EAA84-940B-B713-DC7F-6A6E3737367D}"/>
              </a:ext>
            </a:extLst>
          </p:cNvPr>
          <p:cNvSpPr txBox="1"/>
          <p:nvPr/>
        </p:nvSpPr>
        <p:spPr>
          <a:xfrm>
            <a:off x="7242464" y="1980965"/>
            <a:ext cx="45524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Most restaurants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fall under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price range 1 category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4444 restaurants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Indicates a highly budget-efficient restaurant across the globe.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Mid mid-range option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Prince Range 2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the second most common –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3113 restaurants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High-end restaurants’ price-Range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 &amp; 4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much lower than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1408 and 586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respectively.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majority of restaurants are clustered in affordable ranges, suggesting price is a major factor influencing the success.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75AA4-03F7-FF92-9932-3B518A2D3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36" y="2229767"/>
            <a:ext cx="6249272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2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99DD-1995-C242-E80D-DDDE44B4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64AD09-D8E1-2DAC-2BDF-B7CCE1EB985E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2C433C-1D35-F89E-D07D-33F83EAEE131}"/>
              </a:ext>
            </a:extLst>
          </p:cNvPr>
          <p:cNvSpPr/>
          <p:nvPr/>
        </p:nvSpPr>
        <p:spPr>
          <a:xfrm>
            <a:off x="1" y="388653"/>
            <a:ext cx="9768840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Country and City Recommendations</a:t>
            </a:r>
          </a:p>
        </p:txBody>
      </p:sp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261B5804-A236-80A3-F6A4-C96BA5ADF06C}"/>
              </a:ext>
            </a:extLst>
          </p:cNvPr>
          <p:cNvSpPr/>
          <p:nvPr/>
        </p:nvSpPr>
        <p:spPr>
          <a:xfrm>
            <a:off x="195829" y="1916894"/>
            <a:ext cx="2826327" cy="3780521"/>
          </a:xfrm>
          <a:prstGeom prst="round1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FF145121-6367-98BF-F024-81CD23B71ABB}"/>
              </a:ext>
            </a:extLst>
          </p:cNvPr>
          <p:cNvSpPr/>
          <p:nvPr/>
        </p:nvSpPr>
        <p:spPr>
          <a:xfrm>
            <a:off x="3956538" y="1916894"/>
            <a:ext cx="2998311" cy="3780521"/>
          </a:xfrm>
          <a:prstGeom prst="round1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D814268C-E5BC-8AD1-3BD4-35DB09CD9773}"/>
              </a:ext>
            </a:extLst>
          </p:cNvPr>
          <p:cNvSpPr/>
          <p:nvPr/>
        </p:nvSpPr>
        <p:spPr>
          <a:xfrm>
            <a:off x="8720128" y="1916893"/>
            <a:ext cx="2826327" cy="3780521"/>
          </a:xfrm>
          <a:prstGeom prst="round1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C5D3C2B1-FF67-197C-616E-FC1358BFE01C}"/>
              </a:ext>
            </a:extLst>
          </p:cNvPr>
          <p:cNvSpPr/>
          <p:nvPr/>
        </p:nvSpPr>
        <p:spPr>
          <a:xfrm>
            <a:off x="195829" y="1693490"/>
            <a:ext cx="1818409" cy="446809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COUNTRIES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0FC248E4-46D1-F1E4-BEC0-5F8C2DE55BC9}"/>
              </a:ext>
            </a:extLst>
          </p:cNvPr>
          <p:cNvSpPr/>
          <p:nvPr/>
        </p:nvSpPr>
        <p:spPr>
          <a:xfrm>
            <a:off x="4277591" y="1693489"/>
            <a:ext cx="1818409" cy="446809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CITIES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01E4853-471E-09A8-4C1A-0B8B00AB3A2B}"/>
              </a:ext>
            </a:extLst>
          </p:cNvPr>
          <p:cNvSpPr/>
          <p:nvPr/>
        </p:nvSpPr>
        <p:spPr>
          <a:xfrm>
            <a:off x="8720128" y="1693489"/>
            <a:ext cx="1818409" cy="446809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CUSINES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EE6C0-1ABD-8799-836A-080DAE5F077D}"/>
              </a:ext>
            </a:extLst>
          </p:cNvPr>
          <p:cNvSpPr txBox="1"/>
          <p:nvPr/>
        </p:nvSpPr>
        <p:spPr>
          <a:xfrm>
            <a:off x="550719" y="2378600"/>
            <a:ext cx="26680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Australia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Canada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Indonesia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Turkey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Sri Lanka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Philippines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New Zealand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Qatar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Singapore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6799A-ABEC-84CC-FAC9-F1AAF3A57CEC}"/>
              </a:ext>
            </a:extLst>
          </p:cNvPr>
          <p:cNvSpPr txBox="1"/>
          <p:nvPr/>
        </p:nvSpPr>
        <p:spPr>
          <a:xfrm>
            <a:off x="4045793" y="2378600"/>
            <a:ext cx="29983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Montville(Australia)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Chatham-Kent(Canada)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Bogor(Indonesia)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Ankara(Turkey)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Istanbul(Turkey)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Colombo( Sri Lanka)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San Juan City(Philippines)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Auckland(New Zealand)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Wellington(New Zealand)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Doha (Qatar)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Singapore(Singapore)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833E99-2068-4AC5-4A23-CFE10AD36347}"/>
              </a:ext>
            </a:extLst>
          </p:cNvPr>
          <p:cNvSpPr txBox="1"/>
          <p:nvPr/>
        </p:nvSpPr>
        <p:spPr>
          <a:xfrm>
            <a:off x="8720128" y="2284989"/>
            <a:ext cx="299887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Pizza, Bar Food(Australia)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Italian, Mediterranean, Pizza(Canada)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Sunda, Indonesia(Indonesia)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Bar Food(Turkey)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Sea Food(Sri Lanka)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European, Asian, Indian(Philippines)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Desserts(New Zealand)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Chinese(Qatar)</a:t>
            </a:r>
          </a:p>
          <a:p>
            <a:pPr marL="285750" indent="-285750"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Italian(Singapore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E60D87-5328-B690-8F84-E3BAB724A62B}"/>
              </a:ext>
            </a:extLst>
          </p:cNvPr>
          <p:cNvSpPr txBox="1"/>
          <p:nvPr/>
        </p:nvSpPr>
        <p:spPr>
          <a:xfrm>
            <a:off x="195829" y="5850082"/>
            <a:ext cx="11776261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“I highly suggest these countries and cities in the criteria of low competitors, high popularity, and low rating &amp; cuisines based on popularity and high rating. This way, by opening high-quality restaurants in these cities, we can attract the existing customer base and stand out from poor-performing competitors.”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98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3BD68-6532-55C5-5F5D-64F2DBF8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10E12A-9009-3AE7-9989-F00293125715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6F32C35-B97D-C5B4-7371-82B30C6FBBAD}"/>
              </a:ext>
            </a:extLst>
          </p:cNvPr>
          <p:cNvSpPr/>
          <p:nvPr/>
        </p:nvSpPr>
        <p:spPr>
          <a:xfrm>
            <a:off x="0" y="320106"/>
            <a:ext cx="9518074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98445E-E014-19C1-52D9-27273E204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0250"/>
            <a:ext cx="12192000" cy="537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8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03A08-BC79-A13E-B88D-C5CC1115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8D3121-EA57-8733-46DF-4664344DF4D4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524767-D409-B2AA-145F-8CFF5C7D6730}"/>
              </a:ext>
            </a:extLst>
          </p:cNvPr>
          <p:cNvSpPr/>
          <p:nvPr/>
        </p:nvSpPr>
        <p:spPr>
          <a:xfrm>
            <a:off x="-1" y="388653"/>
            <a:ext cx="9829801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DASHBOARD FEATURES AND INTERPRETABILITY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09B94-48FB-7991-71EB-4ABFBBDAD48A}"/>
              </a:ext>
            </a:extLst>
          </p:cNvPr>
          <p:cNvSpPr txBox="1"/>
          <p:nvPr/>
        </p:nvSpPr>
        <p:spPr>
          <a:xfrm>
            <a:off x="742446" y="2529234"/>
            <a:ext cx="46759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Filters for Country and Opening Year to explore specific markets and trends.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KPI: Total Restaurants, Countries, Cities, Cuisines, Average Rating, and Votes.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Visualizations: Bar Charts, Trend Lines, Donut Charts, and Tree Maps for deep insights.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Home Button: Navigates to Pivot Tables.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 Button: Navigates to Raw Dataset.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84FAE-5FBB-DB83-967D-2826B43CCC81}"/>
              </a:ext>
            </a:extLst>
          </p:cNvPr>
          <p:cNvSpPr txBox="1"/>
          <p:nvPr/>
        </p:nvSpPr>
        <p:spPr>
          <a:xfrm>
            <a:off x="6773647" y="2532982"/>
            <a:ext cx="467590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Competition chart uses color coding to show High(Red)  and Low(Green) competition.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Restaurant Opening Trend Charts help identify growth periods of restaurants.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Delivery &amp; Table Booking impact charts highly on how features influence customer satisfaction.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Cuisine Popularity Map shows the top food preference by Votes.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Restaurants Distribution by Price range assists in identifying affordable vs. premium market focus.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8034B-4387-92F3-8D87-16E456E420AC}"/>
              </a:ext>
            </a:extLst>
          </p:cNvPr>
          <p:cNvSpPr txBox="1"/>
          <p:nvPr/>
        </p:nvSpPr>
        <p:spPr>
          <a:xfrm>
            <a:off x="742446" y="1838961"/>
            <a:ext cx="330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b="1" i="1" dirty="0"/>
              <a:t>:</a:t>
            </a:r>
            <a:endParaRPr lang="en-IN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34C2F-8777-768B-1395-6722B27674D2}"/>
              </a:ext>
            </a:extLst>
          </p:cNvPr>
          <p:cNvSpPr txBox="1"/>
          <p:nvPr/>
        </p:nvSpPr>
        <p:spPr>
          <a:xfrm>
            <a:off x="6773647" y="1838961"/>
            <a:ext cx="330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Interpretability</a:t>
            </a:r>
            <a:r>
              <a:rPr lang="en-US" b="1" i="1" dirty="0"/>
              <a:t>: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41292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4C82E-8920-0A2A-9617-2FDD8A86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54C953-7963-331D-27D1-1D7A6D319903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836710" y="388654"/>
            <a:ext cx="1135380" cy="1160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7F6380-BF32-EB11-92F3-D1C81399DFC1}"/>
              </a:ext>
            </a:extLst>
          </p:cNvPr>
          <p:cNvSpPr/>
          <p:nvPr/>
        </p:nvSpPr>
        <p:spPr>
          <a:xfrm>
            <a:off x="-2" y="388653"/>
            <a:ext cx="9159241" cy="116014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4000" b="1" i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4400" b="1" i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7D143-3FAE-422A-462B-D7B1358A5DDD}"/>
              </a:ext>
            </a:extLst>
          </p:cNvPr>
          <p:cNvSpPr txBox="1"/>
          <p:nvPr/>
        </p:nvSpPr>
        <p:spPr>
          <a:xfrm>
            <a:off x="992968" y="1902167"/>
            <a:ext cx="805168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 competition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Competition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countries like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Canada, Qatar, and Sri Lanka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are ideal for new market entry.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Online delivery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table booking positively impact ratings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enhancing customer experience.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majority of restaurants fall under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affordable price ranges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highlighting a large number of budget-efficient restaurants.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Italian, American, and Pizza cuisines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dominate in popularity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by votes.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Steady growth in restaurant opening, with a sharp rise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after 2016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indicates a booming market in the restaurant business.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149E4-BDB0-7458-E6A8-C45E9878BDAC}"/>
              </a:ext>
            </a:extLst>
          </p:cNvPr>
          <p:cNvSpPr txBox="1"/>
          <p:nvPr/>
        </p:nvSpPr>
        <p:spPr>
          <a:xfrm>
            <a:off x="872836" y="5548745"/>
            <a:ext cx="10505209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/>
              <a:t>“This analysis supports data-driven choices for strategic positioning, service optimization, and market expansion in the international sector.”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71969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2E75-289D-FA59-2BC0-7D031243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113C8E-BAD2-29F2-B257-D391B9799E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A1F3D-53F0-466B-D9D1-F5C3AC2F8296}"/>
              </a:ext>
            </a:extLst>
          </p:cNvPr>
          <p:cNvSpPr/>
          <p:nvPr/>
        </p:nvSpPr>
        <p:spPr>
          <a:xfrm>
            <a:off x="2" y="1620983"/>
            <a:ext cx="12191998" cy="44473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0" i="1" dirty="0">
                <a:latin typeface="Arial" panose="020B0604020202020204" pitchFamily="34" charset="0"/>
                <a:cs typeface="Arial" panose="020B0604020202020204" pitchFamily="34" charset="0"/>
              </a:rPr>
              <a:t>Thank  You</a:t>
            </a:r>
          </a:p>
          <a:p>
            <a:endParaRPr lang="en-IN" sz="4000" i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654B2-1707-EA1C-BE77-706821B54337}"/>
              </a:ext>
            </a:extLst>
          </p:cNvPr>
          <p:cNvPicPr/>
          <p:nvPr/>
        </p:nvPicPr>
        <p:blipFill>
          <a:blip r:embed="rId2"/>
          <a:srcRect l="25822" r="17668" b="4195"/>
          <a:stretch>
            <a:fillRect/>
          </a:stretch>
        </p:blipFill>
        <p:spPr>
          <a:xfrm>
            <a:off x="10733807" y="145471"/>
            <a:ext cx="1375064" cy="12884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222690-C6CE-FDBE-9A68-B2947869621D}"/>
              </a:ext>
            </a:extLst>
          </p:cNvPr>
          <p:cNvSpPr txBox="1"/>
          <p:nvPr/>
        </p:nvSpPr>
        <p:spPr>
          <a:xfrm>
            <a:off x="883228" y="4922921"/>
            <a:ext cx="2639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Gayatri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Kumari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aphic 17" descr="Female Profile with solid fill">
            <a:extLst>
              <a:ext uri="{FF2B5EF4-FFF2-40B4-BE49-F238E27FC236}">
                <a16:creationId xmlns:a16="http://schemas.microsoft.com/office/drawing/2014/main" id="{5F52AB0E-273D-9098-F61E-F5782440D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210" y="4790467"/>
            <a:ext cx="665018" cy="66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4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1287</TotalTime>
  <Words>1717</Words>
  <Application>Microsoft Office PowerPoint</Application>
  <PresentationFormat>Widescreen</PresentationFormat>
  <Paragraphs>245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Rockwell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Singh</dc:creator>
  <cp:lastModifiedBy>Gayatri Singh</cp:lastModifiedBy>
  <cp:revision>29</cp:revision>
  <dcterms:created xsi:type="dcterms:W3CDTF">2026-01-03T10:21:52Z</dcterms:created>
  <dcterms:modified xsi:type="dcterms:W3CDTF">2026-01-27T17:08:13Z</dcterms:modified>
</cp:coreProperties>
</file>